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44" y="1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7175A6E-6367-4EAE-87AC-AC939F44E240}"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B87425-2C5B-4A53-9D46-AC595657758D}" type="slidenum">
              <a:rPr lang="en-IN" smtClean="0"/>
              <a:t>‹#›</a:t>
            </a:fld>
            <a:endParaRPr lang="en-IN"/>
          </a:p>
        </p:txBody>
      </p:sp>
    </p:spTree>
    <p:extLst>
      <p:ext uri="{BB962C8B-B14F-4D97-AF65-F5344CB8AC3E}">
        <p14:creationId xmlns:p14="http://schemas.microsoft.com/office/powerpoint/2010/main" val="619337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7175A6E-6367-4EAE-87AC-AC939F44E240}"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B87425-2C5B-4A53-9D46-AC595657758D}" type="slidenum">
              <a:rPr lang="en-IN" smtClean="0"/>
              <a:t>‹#›</a:t>
            </a:fld>
            <a:endParaRPr lang="en-IN"/>
          </a:p>
        </p:txBody>
      </p:sp>
    </p:spTree>
    <p:extLst>
      <p:ext uri="{BB962C8B-B14F-4D97-AF65-F5344CB8AC3E}">
        <p14:creationId xmlns:p14="http://schemas.microsoft.com/office/powerpoint/2010/main" val="1747358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7175A6E-6367-4EAE-87AC-AC939F44E240}"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B87425-2C5B-4A53-9D46-AC595657758D}" type="slidenum">
              <a:rPr lang="en-IN" smtClean="0"/>
              <a:t>‹#›</a:t>
            </a:fld>
            <a:endParaRPr lang="en-IN"/>
          </a:p>
        </p:txBody>
      </p:sp>
    </p:spTree>
    <p:extLst>
      <p:ext uri="{BB962C8B-B14F-4D97-AF65-F5344CB8AC3E}">
        <p14:creationId xmlns:p14="http://schemas.microsoft.com/office/powerpoint/2010/main" val="3721938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7175A6E-6367-4EAE-87AC-AC939F44E240}" type="datetimeFigureOut">
              <a:rPr lang="en-IN" smtClean="0"/>
              <a:t>12-05-2026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B87425-2C5B-4A53-9D46-AC595657758D}" type="slidenum">
              <a:rPr lang="en-IN" smtClean="0"/>
              <a:t>‹#›</a:t>
            </a:fld>
            <a:endParaRPr lang="en-IN"/>
          </a:p>
        </p:txBody>
      </p:sp>
    </p:spTree>
    <p:extLst>
      <p:ext uri="{BB962C8B-B14F-4D97-AF65-F5344CB8AC3E}">
        <p14:creationId xmlns:p14="http://schemas.microsoft.com/office/powerpoint/2010/main" val="24878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7175A6E-6367-4EAE-87AC-AC939F44E240}" type="datetimeFigureOut">
              <a:rPr lang="en-IN" smtClean="0"/>
              <a:t>12-05-2026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CB87425-2C5B-4A53-9D46-AC595657758D}" type="slidenum">
              <a:rPr lang="en-IN" smtClean="0"/>
              <a:t>‹#›</a:t>
            </a:fld>
            <a:endParaRPr lang="en-IN"/>
          </a:p>
        </p:txBody>
      </p:sp>
    </p:spTree>
    <p:extLst>
      <p:ext uri="{BB962C8B-B14F-4D97-AF65-F5344CB8AC3E}">
        <p14:creationId xmlns:p14="http://schemas.microsoft.com/office/powerpoint/2010/main" val="456754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7175A6E-6367-4EAE-87AC-AC939F44E240}" type="datetimeFigureOut">
              <a:rPr lang="en-IN" smtClean="0"/>
              <a:t>12-05-2026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CB87425-2C5B-4A53-9D46-AC595657758D}" type="slidenum">
              <a:rPr lang="en-IN" smtClean="0"/>
              <a:t>‹#›</a:t>
            </a:fld>
            <a:endParaRPr lang="en-IN"/>
          </a:p>
        </p:txBody>
      </p:sp>
    </p:spTree>
    <p:extLst>
      <p:ext uri="{BB962C8B-B14F-4D97-AF65-F5344CB8AC3E}">
        <p14:creationId xmlns:p14="http://schemas.microsoft.com/office/powerpoint/2010/main" val="455351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175A6E-6367-4EAE-87AC-AC939F44E240}" type="datetimeFigureOut">
              <a:rPr lang="en-IN" smtClean="0"/>
              <a:t>12-05-2026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CB87425-2C5B-4A53-9D46-AC595657758D}" type="slidenum">
              <a:rPr lang="en-IN" smtClean="0"/>
              <a:t>‹#›</a:t>
            </a:fld>
            <a:endParaRPr lang="en-IN"/>
          </a:p>
        </p:txBody>
      </p:sp>
    </p:spTree>
    <p:extLst>
      <p:ext uri="{BB962C8B-B14F-4D97-AF65-F5344CB8AC3E}">
        <p14:creationId xmlns:p14="http://schemas.microsoft.com/office/powerpoint/2010/main" val="3869778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175A6E-6367-4EAE-87AC-AC939F44E240}" type="datetimeFigureOut">
              <a:rPr lang="en-IN" smtClean="0"/>
              <a:t>12-05-2026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B87425-2C5B-4A53-9D46-AC595657758D}" type="slidenum">
              <a:rPr lang="en-IN" smtClean="0"/>
              <a:t>‹#›</a:t>
            </a:fld>
            <a:endParaRPr lang="en-IN"/>
          </a:p>
        </p:txBody>
      </p:sp>
    </p:spTree>
    <p:extLst>
      <p:ext uri="{BB962C8B-B14F-4D97-AF65-F5344CB8AC3E}">
        <p14:creationId xmlns:p14="http://schemas.microsoft.com/office/powerpoint/2010/main" val="828595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175A6E-6367-4EAE-87AC-AC939F44E240}" type="datetimeFigureOut">
              <a:rPr lang="en-IN" smtClean="0"/>
              <a:t>12-05-2026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B87425-2C5B-4A53-9D46-AC595657758D}" type="slidenum">
              <a:rPr lang="en-IN" smtClean="0"/>
              <a:t>‹#›</a:t>
            </a:fld>
            <a:endParaRPr lang="en-IN"/>
          </a:p>
        </p:txBody>
      </p:sp>
    </p:spTree>
    <p:extLst>
      <p:ext uri="{BB962C8B-B14F-4D97-AF65-F5344CB8AC3E}">
        <p14:creationId xmlns:p14="http://schemas.microsoft.com/office/powerpoint/2010/main" val="313349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7175A6E-6367-4EAE-87AC-AC939F44E240}"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B87425-2C5B-4A53-9D46-AC595657758D}" type="slidenum">
              <a:rPr lang="en-IN" smtClean="0"/>
              <a:t>‹#›</a:t>
            </a:fld>
            <a:endParaRPr lang="en-IN"/>
          </a:p>
        </p:txBody>
      </p:sp>
    </p:spTree>
    <p:extLst>
      <p:ext uri="{BB962C8B-B14F-4D97-AF65-F5344CB8AC3E}">
        <p14:creationId xmlns:p14="http://schemas.microsoft.com/office/powerpoint/2010/main" val="1124762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7175A6E-6367-4EAE-87AC-AC939F44E240}"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B87425-2C5B-4A53-9D46-AC595657758D}" type="slidenum">
              <a:rPr lang="en-IN" smtClean="0"/>
              <a:t>‹#›</a:t>
            </a:fld>
            <a:endParaRPr lang="en-IN"/>
          </a:p>
        </p:txBody>
      </p:sp>
    </p:spTree>
    <p:extLst>
      <p:ext uri="{BB962C8B-B14F-4D97-AF65-F5344CB8AC3E}">
        <p14:creationId xmlns:p14="http://schemas.microsoft.com/office/powerpoint/2010/main" val="2490084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175A6E-6367-4EAE-87AC-AC939F44E240}" type="datetimeFigureOut">
              <a:rPr lang="en-IN" smtClean="0"/>
              <a:t>12-05-2026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B87425-2C5B-4A53-9D46-AC595657758D}" type="slidenum">
              <a:rPr lang="en-IN" smtClean="0"/>
              <a:t>‹#›</a:t>
            </a:fld>
            <a:endParaRPr lang="en-IN"/>
          </a:p>
        </p:txBody>
      </p:sp>
    </p:spTree>
    <p:extLst>
      <p:ext uri="{BB962C8B-B14F-4D97-AF65-F5344CB8AC3E}">
        <p14:creationId xmlns:p14="http://schemas.microsoft.com/office/powerpoint/2010/main" val="8011444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12763"/>
            <a:ext cx="9144000" cy="1186728"/>
          </a:xfrm>
        </p:spPr>
        <p:txBody>
          <a:bodyPr>
            <a:noAutofit/>
          </a:bodyPr>
          <a:lstStyle/>
          <a:p>
            <a:r>
              <a:rPr lang="en-GB" sz="3200" b="1" dirty="0" smtClean="0">
                <a:latin typeface="Arial Black" panose="020B0A04020102020204" pitchFamily="34" charset="0"/>
              </a:rPr>
              <a:t>FPGA Based Convolutional Encoder for Reliable Communication</a:t>
            </a:r>
            <a:endParaRPr lang="en-IN" sz="3200" b="1" dirty="0">
              <a:latin typeface="Arial Black" panose="020B0A040201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004762702"/>
              </p:ext>
            </p:extLst>
          </p:nvPr>
        </p:nvGraphicFramePr>
        <p:xfrm>
          <a:off x="2041236" y="2706255"/>
          <a:ext cx="8266546" cy="3339724"/>
        </p:xfrm>
        <a:graphic>
          <a:graphicData uri="http://schemas.openxmlformats.org/drawingml/2006/table">
            <a:tbl>
              <a:tblPr firstRow="1" bandRow="1">
                <a:tableStyleId>{1FECB4D8-DB02-4DC6-A0A2-4F2EBAE1DC90}</a:tableStyleId>
              </a:tblPr>
              <a:tblGrid>
                <a:gridCol w="4133273"/>
                <a:gridCol w="4133273"/>
              </a:tblGrid>
              <a:tr h="834931">
                <a:tc>
                  <a:txBody>
                    <a:bodyPr/>
                    <a:lstStyle/>
                    <a:p>
                      <a:pPr algn="ctr"/>
                      <a:r>
                        <a:rPr lang="en-GB" sz="2000" b="1" dirty="0" smtClean="0">
                          <a:latin typeface="Arial Black" panose="020B0A04020102020204" pitchFamily="34" charset="0"/>
                        </a:rPr>
                        <a:t>Name</a:t>
                      </a:r>
                      <a:endParaRPr lang="en-IN" sz="2000" b="1" dirty="0">
                        <a:latin typeface="Arial Black" panose="020B0A04020102020204" pitchFamily="34" charset="0"/>
                      </a:endParaRPr>
                    </a:p>
                  </a:txBody>
                  <a:tcPr/>
                </a:tc>
                <a:tc>
                  <a:txBody>
                    <a:bodyPr/>
                    <a:lstStyle/>
                    <a:p>
                      <a:pPr algn="ctr"/>
                      <a:r>
                        <a:rPr lang="en-GB" sz="2000" b="1" dirty="0" smtClean="0">
                          <a:latin typeface="Arial Black" panose="020B0A04020102020204" pitchFamily="34" charset="0"/>
                        </a:rPr>
                        <a:t>USN</a:t>
                      </a:r>
                      <a:endParaRPr lang="en-IN" sz="2000" b="1" dirty="0">
                        <a:latin typeface="Arial Black" panose="020B0A04020102020204" pitchFamily="34" charset="0"/>
                      </a:endParaRPr>
                    </a:p>
                  </a:txBody>
                  <a:tcPr/>
                </a:tc>
              </a:tr>
              <a:tr h="834931">
                <a:tc>
                  <a:txBody>
                    <a:bodyPr/>
                    <a:lstStyle/>
                    <a:p>
                      <a:pPr algn="ctr"/>
                      <a:r>
                        <a:rPr lang="en-GB" sz="2000" b="1" dirty="0" smtClean="0">
                          <a:latin typeface="Arial Black" panose="020B0A04020102020204" pitchFamily="34" charset="0"/>
                        </a:rPr>
                        <a:t>Jasmine</a:t>
                      </a:r>
                      <a:r>
                        <a:rPr lang="en-GB" sz="2000" b="1" baseline="0" dirty="0" smtClean="0">
                          <a:latin typeface="Arial Black" panose="020B0A04020102020204" pitchFamily="34" charset="0"/>
                        </a:rPr>
                        <a:t> </a:t>
                      </a:r>
                      <a:r>
                        <a:rPr lang="en-GB" sz="2000" b="1" baseline="0" dirty="0" err="1" smtClean="0">
                          <a:latin typeface="Arial Black" panose="020B0A04020102020204" pitchFamily="34" charset="0"/>
                        </a:rPr>
                        <a:t>Jevita</a:t>
                      </a:r>
                      <a:r>
                        <a:rPr lang="en-GB" sz="2000" b="1" baseline="0" dirty="0" smtClean="0">
                          <a:latin typeface="Arial Black" panose="020B0A04020102020204" pitchFamily="34" charset="0"/>
                        </a:rPr>
                        <a:t> Dsouza</a:t>
                      </a:r>
                      <a:endParaRPr lang="en-IN" sz="2000" b="1" dirty="0">
                        <a:latin typeface="Arial Black" panose="020B0A04020102020204" pitchFamily="34" charset="0"/>
                      </a:endParaRPr>
                    </a:p>
                  </a:txBody>
                  <a:tcPr/>
                </a:tc>
                <a:tc>
                  <a:txBody>
                    <a:bodyPr/>
                    <a:lstStyle/>
                    <a:p>
                      <a:pPr algn="ctr"/>
                      <a:r>
                        <a:rPr lang="en-GB" sz="2000" b="1" dirty="0" smtClean="0">
                          <a:latin typeface="Arial Black" panose="020B0A04020102020204" pitchFamily="34" charset="0"/>
                        </a:rPr>
                        <a:t>4SO24EC048</a:t>
                      </a:r>
                      <a:endParaRPr lang="en-IN" sz="2000" b="1" dirty="0">
                        <a:latin typeface="Arial Black" panose="020B0A04020102020204" pitchFamily="34" charset="0"/>
                      </a:endParaRPr>
                    </a:p>
                  </a:txBody>
                  <a:tcPr/>
                </a:tc>
              </a:tr>
              <a:tr h="834931">
                <a:tc>
                  <a:txBody>
                    <a:bodyPr/>
                    <a:lstStyle/>
                    <a:p>
                      <a:pPr algn="ctr"/>
                      <a:r>
                        <a:rPr lang="en-GB" sz="2000" b="1" dirty="0" err="1" smtClean="0">
                          <a:latin typeface="Arial Black" panose="020B0A04020102020204" pitchFamily="34" charset="0"/>
                        </a:rPr>
                        <a:t>Jeevan</a:t>
                      </a:r>
                      <a:r>
                        <a:rPr lang="en-GB" sz="2000" b="1" baseline="0" dirty="0" smtClean="0">
                          <a:latin typeface="Arial Black" panose="020B0A04020102020204" pitchFamily="34" charset="0"/>
                        </a:rPr>
                        <a:t> R</a:t>
                      </a:r>
                      <a:endParaRPr lang="en-IN" sz="2000" b="1" dirty="0">
                        <a:latin typeface="Arial Black" panose="020B0A04020102020204" pitchFamily="34" charset="0"/>
                      </a:endParaRPr>
                    </a:p>
                  </a:txBody>
                  <a:tcPr/>
                </a:tc>
                <a:tc>
                  <a:txBody>
                    <a:bodyPr/>
                    <a:lstStyle/>
                    <a:p>
                      <a:pPr algn="ctr"/>
                      <a:r>
                        <a:rPr lang="en-GB" sz="2000" b="1" dirty="0" smtClean="0">
                          <a:latin typeface="Arial Black" panose="020B0A04020102020204" pitchFamily="34" charset="0"/>
                        </a:rPr>
                        <a:t>4SO24EC051</a:t>
                      </a:r>
                      <a:endParaRPr lang="en-IN" sz="2000" b="1" dirty="0">
                        <a:latin typeface="Arial Black" panose="020B0A04020102020204" pitchFamily="34" charset="0"/>
                      </a:endParaRPr>
                    </a:p>
                  </a:txBody>
                  <a:tcPr/>
                </a:tc>
              </a:tr>
              <a:tr h="834931">
                <a:tc>
                  <a:txBody>
                    <a:bodyPr/>
                    <a:lstStyle/>
                    <a:p>
                      <a:pPr algn="ctr"/>
                      <a:r>
                        <a:rPr lang="en-GB" sz="2000" b="1" dirty="0" err="1" smtClean="0">
                          <a:latin typeface="Arial Black" panose="020B0A04020102020204" pitchFamily="34" charset="0"/>
                        </a:rPr>
                        <a:t>Karthik</a:t>
                      </a:r>
                      <a:endParaRPr lang="en-IN" sz="2000" b="1" dirty="0">
                        <a:latin typeface="Arial Black" panose="020B0A04020102020204" pitchFamily="34" charset="0"/>
                      </a:endParaRPr>
                    </a:p>
                  </a:txBody>
                  <a:tcPr/>
                </a:tc>
                <a:tc>
                  <a:txBody>
                    <a:bodyPr/>
                    <a:lstStyle/>
                    <a:p>
                      <a:pPr algn="ctr"/>
                      <a:r>
                        <a:rPr lang="en-GB" sz="2000" b="1" dirty="0" smtClean="0">
                          <a:latin typeface="Arial Black" panose="020B0A04020102020204" pitchFamily="34" charset="0"/>
                        </a:rPr>
                        <a:t>4SO24EC057</a:t>
                      </a:r>
                      <a:endParaRPr lang="en-IN" sz="2000" b="1" dirty="0">
                        <a:latin typeface="Arial Black" panose="020B0A04020102020204" pitchFamily="34" charset="0"/>
                      </a:endParaRPr>
                    </a:p>
                  </a:txBody>
                  <a:tcPr/>
                </a:tc>
              </a:tr>
            </a:tbl>
          </a:graphicData>
        </a:graphic>
      </p:graphicFrame>
    </p:spTree>
    <p:extLst>
      <p:ext uri="{BB962C8B-B14F-4D97-AF65-F5344CB8AC3E}">
        <p14:creationId xmlns:p14="http://schemas.microsoft.com/office/powerpoint/2010/main" val="497041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1818"/>
            <a:ext cx="10515600" cy="5715145"/>
          </a:xfrm>
        </p:spPr>
        <p:txBody>
          <a:bodyPr>
            <a:normAutofit fontScale="85000" lnSpcReduction="20000"/>
          </a:bodyPr>
          <a:lstStyle/>
          <a:p>
            <a:pPr marL="0" indent="0">
              <a:buNone/>
            </a:pPr>
            <a:r>
              <a:rPr lang="en-GB" dirty="0" smtClean="0">
                <a:latin typeface="Times New Roman" panose="02020603050405020304" pitchFamily="18" charset="0"/>
                <a:cs typeface="Times New Roman" panose="02020603050405020304" pitchFamily="18" charset="0"/>
              </a:rPr>
              <a:t>PLANNING</a:t>
            </a:r>
          </a:p>
          <a:p>
            <a:r>
              <a:rPr lang="en-US" dirty="0">
                <a:latin typeface="Times New Roman" panose="02020603050405020304" pitchFamily="18" charset="0"/>
                <a:cs typeface="Times New Roman" panose="02020603050405020304" pitchFamily="18" charset="0"/>
              </a:rPr>
              <a:t>Start date :March </a:t>
            </a:r>
            <a:r>
              <a:rPr lang="en-US" dirty="0" smtClean="0">
                <a:latin typeface="Times New Roman" panose="02020603050405020304" pitchFamily="18" charset="0"/>
                <a:cs typeface="Times New Roman" panose="02020603050405020304" pitchFamily="18" charset="0"/>
              </a:rPr>
              <a:t>12 </a:t>
            </a:r>
            <a:r>
              <a:rPr lang="en-US" dirty="0">
                <a:latin typeface="Times New Roman" panose="02020603050405020304" pitchFamily="18" charset="0"/>
                <a:cs typeface="Times New Roman" panose="02020603050405020304" pitchFamily="18" charset="0"/>
              </a:rPr>
              <a:t>2026</a:t>
            </a:r>
          </a:p>
          <a:p>
            <a:r>
              <a:rPr lang="en-US" dirty="0">
                <a:latin typeface="Times New Roman" panose="02020603050405020304" pitchFamily="18" charset="0"/>
                <a:cs typeface="Times New Roman" panose="02020603050405020304" pitchFamily="18" charset="0"/>
              </a:rPr>
              <a:t>End date: May 2 2026</a:t>
            </a:r>
          </a:p>
          <a:p>
            <a:pPr marL="0" indent="0">
              <a:buNone/>
            </a:pPr>
            <a:r>
              <a:rPr lang="en-US" dirty="0">
                <a:latin typeface="Times New Roman" panose="02020603050405020304" pitchFamily="18" charset="0"/>
                <a:cs typeface="Times New Roman" panose="02020603050405020304" pitchFamily="18" charset="0"/>
              </a:rPr>
              <a:t>Research papers from IEEE:</a:t>
            </a:r>
          </a:p>
          <a:p>
            <a:pPr marL="0" indent="0">
              <a:buNone/>
            </a:pPr>
            <a:r>
              <a:rPr lang="en-US" dirty="0">
                <a:latin typeface="Times New Roman" panose="02020603050405020304" pitchFamily="18" charset="0"/>
                <a:cs typeface="Times New Roman" panose="02020603050405020304" pitchFamily="18" charset="0"/>
              </a:rPr>
              <a:t>Assigned </a:t>
            </a:r>
            <a:r>
              <a:rPr lang="en-US" dirty="0" err="1">
                <a:latin typeface="Times New Roman" panose="02020603050405020304" pitchFamily="18" charset="0"/>
                <a:cs typeface="Times New Roman" panose="02020603050405020304" pitchFamily="18" charset="0"/>
              </a:rPr>
              <a:t>date:April</a:t>
            </a:r>
            <a:r>
              <a:rPr lang="en-US" dirty="0">
                <a:latin typeface="Times New Roman" panose="02020603050405020304" pitchFamily="18" charset="0"/>
                <a:cs typeface="Times New Roman" panose="02020603050405020304" pitchFamily="18" charset="0"/>
              </a:rPr>
              <a:t> 05 </a:t>
            </a:r>
            <a:r>
              <a:rPr lang="en-US" dirty="0" smtClean="0">
                <a:latin typeface="Times New Roman" panose="02020603050405020304" pitchFamily="18" charset="0"/>
                <a:cs typeface="Times New Roman" panose="02020603050405020304" pitchFamily="18" charset="0"/>
              </a:rPr>
              <a:t>2026</a:t>
            </a:r>
            <a:endParaRPr lang="en-GB" dirty="0" smtClean="0">
              <a:latin typeface="Times New Roman" panose="02020603050405020304" pitchFamily="18" charset="0"/>
              <a:cs typeface="Times New Roman" panose="02020603050405020304" pitchFamily="18" charset="0"/>
            </a:endParaRPr>
          </a:p>
          <a:p>
            <a:r>
              <a:rPr lang="en-GB" dirty="0" smtClean="0">
                <a:latin typeface="Times New Roman" panose="02020603050405020304" pitchFamily="18" charset="0"/>
                <a:cs typeface="Times New Roman" panose="02020603050405020304" pitchFamily="18" charset="0"/>
              </a:rPr>
              <a:t>On 13</a:t>
            </a:r>
            <a:r>
              <a:rPr lang="en-GB" baseline="30000" dirty="0" smtClean="0">
                <a:latin typeface="Times New Roman" panose="02020603050405020304" pitchFamily="18" charset="0"/>
                <a:cs typeface="Times New Roman" panose="02020603050405020304" pitchFamily="18" charset="0"/>
              </a:rPr>
              <a:t>th</a:t>
            </a:r>
            <a:r>
              <a:rPr lang="en-GB" dirty="0" smtClean="0">
                <a:latin typeface="Times New Roman" panose="02020603050405020304" pitchFamily="18" charset="0"/>
                <a:cs typeface="Times New Roman" panose="02020603050405020304" pitchFamily="18" charset="0"/>
              </a:rPr>
              <a:t> March each member started searching for the topics related to error control coding using FPGA.</a:t>
            </a:r>
          </a:p>
          <a:p>
            <a:r>
              <a:rPr lang="en-GB" dirty="0" smtClean="0">
                <a:latin typeface="Times New Roman" panose="02020603050405020304" pitchFamily="18" charset="0"/>
                <a:cs typeface="Times New Roman" panose="02020603050405020304" pitchFamily="18" charset="0"/>
              </a:rPr>
              <a:t>From 13</a:t>
            </a:r>
            <a:r>
              <a:rPr lang="en-GB" baseline="30000" dirty="0" smtClean="0">
                <a:latin typeface="Times New Roman" panose="02020603050405020304" pitchFamily="18" charset="0"/>
                <a:cs typeface="Times New Roman" panose="02020603050405020304" pitchFamily="18" charset="0"/>
              </a:rPr>
              <a:t>th</a:t>
            </a:r>
            <a:r>
              <a:rPr lang="en-GB" dirty="0" smtClean="0">
                <a:latin typeface="Times New Roman" panose="02020603050405020304" pitchFamily="18" charset="0"/>
                <a:cs typeface="Times New Roman" panose="02020603050405020304" pitchFamily="18" charset="0"/>
              </a:rPr>
              <a:t> to 14</a:t>
            </a:r>
            <a:r>
              <a:rPr lang="en-GB" baseline="30000" dirty="0" smtClean="0">
                <a:latin typeface="Times New Roman" panose="02020603050405020304" pitchFamily="18" charset="0"/>
                <a:cs typeface="Times New Roman" panose="02020603050405020304" pitchFamily="18" charset="0"/>
              </a:rPr>
              <a:t>th</a:t>
            </a:r>
            <a:r>
              <a:rPr lang="en-GB" dirty="0" smtClean="0">
                <a:latin typeface="Times New Roman" panose="02020603050405020304" pitchFamily="18" charset="0"/>
                <a:cs typeface="Times New Roman" panose="02020603050405020304" pitchFamily="18" charset="0"/>
              </a:rPr>
              <a:t> March everyone started to search for application based topic according to the problem statement and “</a:t>
            </a:r>
            <a:r>
              <a:rPr lang="en-GB" sz="2400" b="1" dirty="0" smtClean="0">
                <a:latin typeface="Times New Roman" panose="02020603050405020304" pitchFamily="18" charset="0"/>
                <a:cs typeface="Times New Roman" panose="02020603050405020304" pitchFamily="18" charset="0"/>
              </a:rPr>
              <a:t>FPGA Based Convolutional Encoder for Reliable Communication</a:t>
            </a:r>
            <a:r>
              <a:rPr lang="en-GB" sz="2400" dirty="0" smtClean="0">
                <a:latin typeface="Times New Roman" panose="02020603050405020304" pitchFamily="18" charset="0"/>
                <a:cs typeface="Times New Roman" panose="02020603050405020304" pitchFamily="18" charset="0"/>
              </a:rPr>
              <a:t>” topic was selected</a:t>
            </a:r>
            <a:r>
              <a:rPr lang="en-GB" dirty="0" smtClean="0">
                <a:latin typeface="Times New Roman" panose="02020603050405020304" pitchFamily="18" charset="0"/>
                <a:cs typeface="Times New Roman" panose="02020603050405020304" pitchFamily="18" charset="0"/>
              </a:rPr>
              <a:t>.</a:t>
            </a:r>
          </a:p>
          <a:p>
            <a:r>
              <a:rPr lang="en-GB" dirty="0" smtClean="0">
                <a:latin typeface="Times New Roman" panose="02020603050405020304" pitchFamily="18" charset="0"/>
                <a:cs typeface="Times New Roman" panose="02020603050405020304" pitchFamily="18" charset="0"/>
              </a:rPr>
              <a:t>From 16</a:t>
            </a:r>
            <a:r>
              <a:rPr lang="en-GB" baseline="30000" dirty="0" smtClean="0">
                <a:latin typeface="Times New Roman" panose="02020603050405020304" pitchFamily="18" charset="0"/>
                <a:cs typeface="Times New Roman" panose="02020603050405020304" pitchFamily="18" charset="0"/>
              </a:rPr>
              <a:t>th</a:t>
            </a:r>
            <a:r>
              <a:rPr lang="en-GB" dirty="0" smtClean="0">
                <a:latin typeface="Times New Roman" panose="02020603050405020304" pitchFamily="18" charset="0"/>
                <a:cs typeface="Times New Roman" panose="02020603050405020304" pitchFamily="18" charset="0"/>
              </a:rPr>
              <a:t> March everyone in the team started to search the concepts used in the topic mentioned above.</a:t>
            </a:r>
          </a:p>
          <a:p>
            <a:r>
              <a:rPr lang="en-GB" dirty="0" smtClean="0">
                <a:latin typeface="Times New Roman" panose="02020603050405020304" pitchFamily="18" charset="0"/>
                <a:cs typeface="Times New Roman" panose="02020603050405020304" pitchFamily="18" charset="0"/>
              </a:rPr>
              <a:t>Everyone was assigned to search 1 or more research papers before  27</a:t>
            </a:r>
            <a:r>
              <a:rPr lang="en-GB" baseline="30000" dirty="0" smtClean="0">
                <a:latin typeface="Times New Roman" panose="02020603050405020304" pitchFamily="18" charset="0"/>
                <a:cs typeface="Times New Roman" panose="02020603050405020304" pitchFamily="18" charset="0"/>
              </a:rPr>
              <a:t>th</a:t>
            </a:r>
            <a:r>
              <a:rPr lang="en-GB" dirty="0" smtClean="0">
                <a:latin typeface="Times New Roman" panose="02020603050405020304" pitchFamily="18" charset="0"/>
                <a:cs typeface="Times New Roman" panose="02020603050405020304" pitchFamily="18" charset="0"/>
              </a:rPr>
              <a:t> March and had at least one paper each, so everyone had searched for the paper.</a:t>
            </a:r>
          </a:p>
          <a:p>
            <a:r>
              <a:rPr lang="en-GB" dirty="0" err="1" smtClean="0">
                <a:latin typeface="Times New Roman" panose="02020603050405020304" pitchFamily="18" charset="0"/>
                <a:cs typeface="Times New Roman" panose="02020603050405020304" pitchFamily="18" charset="0"/>
              </a:rPr>
              <a:t>Jeevan</a:t>
            </a:r>
            <a:r>
              <a:rPr lang="en-GB" dirty="0" smtClean="0">
                <a:latin typeface="Times New Roman" panose="02020603050405020304" pitchFamily="18" charset="0"/>
                <a:cs typeface="Times New Roman" panose="02020603050405020304" pitchFamily="18" charset="0"/>
              </a:rPr>
              <a:t> R was assigned to find block diagram before 5</a:t>
            </a:r>
            <a:r>
              <a:rPr lang="en-GB" baseline="30000" dirty="0" smtClean="0">
                <a:latin typeface="Times New Roman" panose="02020603050405020304" pitchFamily="18" charset="0"/>
                <a:cs typeface="Times New Roman" panose="02020603050405020304" pitchFamily="18" charset="0"/>
              </a:rPr>
              <a:t>th</a:t>
            </a:r>
            <a:r>
              <a:rPr lang="en-GB" dirty="0" smtClean="0">
                <a:latin typeface="Times New Roman" panose="02020603050405020304" pitchFamily="18" charset="0"/>
                <a:cs typeface="Times New Roman" panose="02020603050405020304" pitchFamily="18" charset="0"/>
              </a:rPr>
              <a:t> April and </a:t>
            </a:r>
            <a:r>
              <a:rPr lang="en-GB" dirty="0" err="1" smtClean="0">
                <a:latin typeface="Times New Roman" panose="02020603050405020304" pitchFamily="18" charset="0"/>
                <a:cs typeface="Times New Roman" panose="02020603050405020304" pitchFamily="18" charset="0"/>
              </a:rPr>
              <a:t>ws</a:t>
            </a:r>
            <a:r>
              <a:rPr lang="en-GB" dirty="0" smtClean="0">
                <a:latin typeface="Times New Roman" panose="02020603050405020304" pitchFamily="18" charset="0"/>
                <a:cs typeface="Times New Roman" panose="02020603050405020304" pitchFamily="18" charset="0"/>
              </a:rPr>
              <a:t> submitted prior. </a:t>
            </a:r>
          </a:p>
          <a:p>
            <a:endParaRPr lang="en-IN" dirty="0"/>
          </a:p>
        </p:txBody>
      </p:sp>
    </p:spTree>
    <p:extLst>
      <p:ext uri="{BB962C8B-B14F-4D97-AF65-F5344CB8AC3E}">
        <p14:creationId xmlns:p14="http://schemas.microsoft.com/office/powerpoint/2010/main" val="467110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89891"/>
            <a:ext cx="10515600" cy="5641254"/>
          </a:xfrm>
        </p:spPr>
        <p:txBody>
          <a:bodyPr>
            <a:normAutofit/>
          </a:bodyPr>
          <a:lstStyle/>
          <a:p>
            <a:r>
              <a:rPr lang="en-GB" sz="2400" dirty="0" smtClean="0">
                <a:latin typeface="Times New Roman" panose="02020603050405020304" pitchFamily="18" charset="0"/>
                <a:cs typeface="Times New Roman" panose="02020603050405020304" pitchFamily="18" charset="0"/>
              </a:rPr>
              <a:t>On 17</a:t>
            </a:r>
            <a:r>
              <a:rPr lang="en-GB" sz="2400" baseline="30000" dirty="0" smtClean="0">
                <a:latin typeface="Times New Roman" panose="02020603050405020304" pitchFamily="18" charset="0"/>
                <a:cs typeface="Times New Roman" panose="02020603050405020304" pitchFamily="18" charset="0"/>
              </a:rPr>
              <a:t>th</a:t>
            </a:r>
            <a:r>
              <a:rPr lang="en-GB" sz="2400" dirty="0" smtClean="0">
                <a:latin typeface="Times New Roman" panose="02020603050405020304" pitchFamily="18" charset="0"/>
                <a:cs typeface="Times New Roman" panose="02020603050405020304" pitchFamily="18" charset="0"/>
              </a:rPr>
              <a:t> April documentation work was split between the team members.</a:t>
            </a:r>
          </a:p>
          <a:p>
            <a:r>
              <a:rPr lang="en-GB" sz="2400" dirty="0" smtClean="0">
                <a:latin typeface="Times New Roman" panose="02020603050405020304" pitchFamily="18" charset="0"/>
                <a:cs typeface="Times New Roman" panose="02020603050405020304" pitchFamily="18" charset="0"/>
              </a:rPr>
              <a:t>The actual work started on 18</a:t>
            </a:r>
            <a:r>
              <a:rPr lang="en-GB" sz="2400" baseline="30000" dirty="0" smtClean="0">
                <a:latin typeface="Times New Roman" panose="02020603050405020304" pitchFamily="18" charset="0"/>
                <a:cs typeface="Times New Roman" panose="02020603050405020304" pitchFamily="18" charset="0"/>
              </a:rPr>
              <a:t>th</a:t>
            </a:r>
            <a:r>
              <a:rPr lang="en-GB" sz="2400" dirty="0" smtClean="0">
                <a:latin typeface="Times New Roman" panose="02020603050405020304" pitchFamily="18" charset="0"/>
                <a:cs typeface="Times New Roman" panose="02020603050405020304" pitchFamily="18" charset="0"/>
              </a:rPr>
              <a:t> of April and deadline was given on 2</a:t>
            </a:r>
            <a:r>
              <a:rPr lang="en-GB" sz="2400" baseline="30000" dirty="0" smtClean="0">
                <a:latin typeface="Times New Roman" panose="02020603050405020304" pitchFamily="18" charset="0"/>
                <a:cs typeface="Times New Roman" panose="02020603050405020304" pitchFamily="18" charset="0"/>
              </a:rPr>
              <a:t>nd</a:t>
            </a:r>
            <a:r>
              <a:rPr lang="en-GB" sz="2400" dirty="0" smtClean="0">
                <a:latin typeface="Times New Roman" panose="02020603050405020304" pitchFamily="18" charset="0"/>
                <a:cs typeface="Times New Roman" panose="02020603050405020304" pitchFamily="18" charset="0"/>
              </a:rPr>
              <a:t> May before 4:00 pm.</a:t>
            </a:r>
          </a:p>
          <a:p>
            <a:r>
              <a:rPr lang="en-GB" sz="2400" dirty="0" smtClean="0">
                <a:latin typeface="Times New Roman" panose="02020603050405020304" pitchFamily="18" charset="0"/>
                <a:cs typeface="Times New Roman" panose="02020603050405020304" pitchFamily="18" charset="0"/>
              </a:rPr>
              <a:t>Chapter 1 and block diagram was assigned to </a:t>
            </a:r>
            <a:r>
              <a:rPr lang="en-GB" sz="2400" dirty="0" err="1" smtClean="0">
                <a:latin typeface="Times New Roman" panose="02020603050405020304" pitchFamily="18" charset="0"/>
                <a:cs typeface="Times New Roman" panose="02020603050405020304" pitchFamily="18" charset="0"/>
              </a:rPr>
              <a:t>Karthik</a:t>
            </a:r>
            <a:endParaRPr lang="en-GB" sz="2400" dirty="0" smtClean="0">
              <a:latin typeface="Times New Roman" panose="02020603050405020304" pitchFamily="18" charset="0"/>
              <a:cs typeface="Times New Roman" panose="02020603050405020304" pitchFamily="18" charset="0"/>
            </a:endParaRPr>
          </a:p>
          <a:p>
            <a:r>
              <a:rPr lang="en-GB" sz="2400" dirty="0" smtClean="0">
                <a:latin typeface="Times New Roman" panose="02020603050405020304" pitchFamily="18" charset="0"/>
                <a:cs typeface="Times New Roman" panose="02020603050405020304" pitchFamily="18" charset="0"/>
              </a:rPr>
              <a:t>Chapter 2 focusing on research paper and simulation in Simulink was done by </a:t>
            </a:r>
            <a:r>
              <a:rPr lang="en-GB" sz="2400" dirty="0" err="1" smtClean="0">
                <a:latin typeface="Times New Roman" panose="02020603050405020304" pitchFamily="18" charset="0"/>
                <a:cs typeface="Times New Roman" panose="02020603050405020304" pitchFamily="18" charset="0"/>
              </a:rPr>
              <a:t>Jeevan</a:t>
            </a:r>
            <a:r>
              <a:rPr lang="en-GB" sz="2400" dirty="0" smtClean="0">
                <a:latin typeface="Times New Roman" panose="02020603050405020304" pitchFamily="18" charset="0"/>
                <a:cs typeface="Times New Roman" panose="02020603050405020304" pitchFamily="18" charset="0"/>
              </a:rPr>
              <a:t> R.</a:t>
            </a:r>
          </a:p>
          <a:p>
            <a:r>
              <a:rPr lang="en-GB" sz="2400" dirty="0" smtClean="0">
                <a:latin typeface="Times New Roman" panose="02020603050405020304" pitchFamily="18" charset="0"/>
                <a:cs typeface="Times New Roman" panose="02020603050405020304" pitchFamily="18" charset="0"/>
              </a:rPr>
              <a:t>Chapter 3 and 4 which consists of analysing block diagram and identification of leaf cell, codes for those leaf cell was done by Jasmine </a:t>
            </a:r>
            <a:r>
              <a:rPr lang="en-GB" sz="2400" dirty="0" err="1" smtClean="0">
                <a:latin typeface="Times New Roman" panose="02020603050405020304" pitchFamily="18" charset="0"/>
                <a:cs typeface="Times New Roman" panose="02020603050405020304" pitchFamily="18" charset="0"/>
              </a:rPr>
              <a:t>Jevita</a:t>
            </a:r>
            <a:r>
              <a:rPr lang="en-GB" sz="2400" dirty="0" smtClean="0">
                <a:latin typeface="Times New Roman" panose="02020603050405020304" pitchFamily="18" charset="0"/>
                <a:cs typeface="Times New Roman" panose="02020603050405020304" pitchFamily="18" charset="0"/>
              </a:rPr>
              <a:t> Dsouza .</a:t>
            </a:r>
          </a:p>
          <a:p>
            <a:r>
              <a:rPr lang="en-GB" sz="2400" dirty="0" smtClean="0">
                <a:latin typeface="Times New Roman" panose="02020603050405020304" pitchFamily="18" charset="0"/>
                <a:cs typeface="Times New Roman" panose="02020603050405020304" pitchFamily="18" charset="0"/>
              </a:rPr>
              <a:t>And all these work assigned to each of them was done according and submitted on time (prior).</a:t>
            </a:r>
          </a:p>
          <a:p>
            <a:r>
              <a:rPr lang="en-GB" sz="2400" dirty="0" smtClean="0">
                <a:latin typeface="Times New Roman" panose="02020603050405020304" pitchFamily="18" charset="0"/>
                <a:cs typeface="Times New Roman" panose="02020603050405020304" pitchFamily="18" charset="0"/>
              </a:rPr>
              <a:t>The was done completely as assigned (work completed).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4232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582" y="2830311"/>
            <a:ext cx="10515600" cy="1325563"/>
          </a:xfrm>
        </p:spPr>
        <p:txBody>
          <a:bodyPr>
            <a:normAutofit/>
          </a:bodyPr>
          <a:lstStyle/>
          <a:p>
            <a:r>
              <a:rPr lang="en-GB" sz="3200" b="1" dirty="0">
                <a:latin typeface="Times New Roman" panose="02020603050405020304" pitchFamily="18" charset="0"/>
                <a:cs typeface="Times New Roman" panose="02020603050405020304" pitchFamily="18" charset="0"/>
              </a:rPr>
              <a:t>Objectives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21326" y="3861337"/>
            <a:ext cx="10515600" cy="4351338"/>
          </a:xfrm>
        </p:spPr>
        <p:txBody>
          <a:bodyPr>
            <a:normAutofit/>
          </a:bodyPr>
          <a:lstStyle/>
          <a:p>
            <a:pPr marL="0" indent="0" algn="just">
              <a:buNone/>
            </a:pPr>
            <a:r>
              <a:rPr lang="en-GB" sz="2400" dirty="0" smtClean="0">
                <a:latin typeface="Times New Roman" panose="02020603050405020304" pitchFamily="18" charset="0"/>
                <a:cs typeface="Times New Roman" panose="02020603050405020304" pitchFamily="18" charset="0"/>
              </a:rPr>
              <a:t>The main objective of this project is to design and implement a convolutional encoder using FPGA to improve reliable digital communication over noisy channels. The system converts parallel input data into serial data for proper transmission. Convolutional encoding is applied to introduce redundancy and reduce transmission errors. BPSK modulation is considered to convert binary data into a transmittable signal. An AWGN channel is also included to model noise conditions and evaluate system performance under practical communication environments.</a:t>
            </a:r>
            <a:endParaRPr lang="en-IN" sz="2400" dirty="0">
              <a:latin typeface="Times New Roman" panose="02020603050405020304" pitchFamily="18" charset="0"/>
              <a:cs typeface="Times New Roman" panose="02020603050405020304" pitchFamily="18" charset="0"/>
            </a:endParaRPr>
          </a:p>
        </p:txBody>
      </p:sp>
      <p:sp>
        <p:nvSpPr>
          <p:cNvPr id="4" name="Rectangle 3"/>
          <p:cNvSpPr/>
          <p:nvPr/>
        </p:nvSpPr>
        <p:spPr>
          <a:xfrm>
            <a:off x="921326" y="1086386"/>
            <a:ext cx="10432473" cy="1938992"/>
          </a:xfrm>
          <a:prstGeom prst="rect">
            <a:avLst/>
          </a:prstGeom>
        </p:spPr>
        <p:txBody>
          <a:bodyPr wrap="square">
            <a:spAutoFit/>
          </a:bodyPr>
          <a:lstStyle/>
          <a:p>
            <a:pPr algn="just">
              <a:spcBef>
                <a:spcPts val="850"/>
              </a:spcBef>
              <a:spcAft>
                <a:spcPts val="0"/>
              </a:spcAft>
            </a:pPr>
            <a:r>
              <a:rPr lang="en-GB" sz="2400" dirty="0">
                <a:latin typeface="Times New Roman" panose="02020603050405020304" pitchFamily="18" charset="0"/>
              </a:rPr>
              <a:t>Reliable data transmission over noisy communication channels is challenging due to errors introduced by noise and limitations in efficient hardware implementation. There is a need to design a hardware-efficient system that improves transmission reliability using error-control coding, with support for modulation techniques in system-level design</a:t>
            </a:r>
            <a:r>
              <a:rPr lang="en-GB" sz="2400" dirty="0" smtClean="0">
                <a:latin typeface="Times New Roman" panose="02020603050405020304" pitchFamily="18" charset="0"/>
              </a:rPr>
              <a:t>.</a:t>
            </a:r>
            <a:endParaRPr lang="en-GB" sz="2000" dirty="0">
              <a:latin typeface="Times New Roman" panose="02020603050405020304" pitchFamily="18" charset="0"/>
            </a:endParaRPr>
          </a:p>
        </p:txBody>
      </p:sp>
      <p:sp>
        <p:nvSpPr>
          <p:cNvPr id="5" name="Title 1"/>
          <p:cNvSpPr txBox="1">
            <a:spLocks/>
          </p:cNvSpPr>
          <p:nvPr/>
        </p:nvSpPr>
        <p:spPr>
          <a:xfrm>
            <a:off x="579582" y="21836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200" b="1" dirty="0" smtClean="0">
                <a:latin typeface="Times New Roman" panose="02020603050405020304" pitchFamily="18" charset="0"/>
                <a:cs typeface="Times New Roman" panose="02020603050405020304" pitchFamily="18" charset="0"/>
              </a:rPr>
              <a:t>Problem Statement</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8873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1" y="2041237"/>
            <a:ext cx="10515600" cy="5696672"/>
          </a:xfrm>
        </p:spPr>
        <p:txBody>
          <a:bodyPr/>
          <a:lstStyle/>
          <a:p>
            <a:r>
              <a:rPr lang="en-GB" dirty="0" smtClean="0"/>
              <a:t>The XOR gate in our design performs only the</a:t>
            </a:r>
          </a:p>
          <a:p>
            <a:pPr marL="0" indent="0">
              <a:buNone/>
            </a:pPr>
            <a:r>
              <a:rPr lang="en-GB" dirty="0" smtClean="0"/>
              <a:t>required logical operation for convolutional </a:t>
            </a:r>
          </a:p>
          <a:p>
            <a:pPr marL="0" indent="0">
              <a:buNone/>
            </a:pPr>
            <a:r>
              <a:rPr lang="en-GB" dirty="0" smtClean="0"/>
              <a:t>encoding. Since it is a fundamental combinational </a:t>
            </a:r>
          </a:p>
          <a:p>
            <a:pPr marL="0" indent="0">
              <a:buNone/>
            </a:pPr>
            <a:r>
              <a:rPr lang="en-GB" dirty="0" smtClean="0"/>
              <a:t>element, no separate optimization technique was                   XOR Gate </a:t>
            </a:r>
          </a:p>
          <a:p>
            <a:pPr marL="0" indent="0">
              <a:buNone/>
            </a:pPr>
            <a:r>
              <a:rPr lang="en-GB" dirty="0" smtClean="0"/>
              <a:t>applied to it in this project.</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1595" y="2350904"/>
            <a:ext cx="3912533" cy="1168149"/>
          </a:xfrm>
          <a:prstGeom prst="rect">
            <a:avLst/>
          </a:prstGeom>
        </p:spPr>
      </p:pic>
    </p:spTree>
    <p:extLst>
      <p:ext uri="{BB962C8B-B14F-4D97-AF65-F5344CB8AC3E}">
        <p14:creationId xmlns:p14="http://schemas.microsoft.com/office/powerpoint/2010/main" val="3292659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4932" y="506420"/>
            <a:ext cx="6527007" cy="4351338"/>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2957" y="3839167"/>
            <a:ext cx="5429881" cy="2653997"/>
          </a:xfrm>
          <a:prstGeom prst="rect">
            <a:avLst/>
          </a:prstGeom>
        </p:spPr>
      </p:pic>
      <p:sp>
        <p:nvSpPr>
          <p:cNvPr id="6" name="Rectangle 5"/>
          <p:cNvSpPr/>
          <p:nvPr/>
        </p:nvSpPr>
        <p:spPr>
          <a:xfrm>
            <a:off x="3648364" y="5166165"/>
            <a:ext cx="2854036" cy="7019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smtClean="0">
                <a:ln w="0"/>
                <a:solidFill>
                  <a:schemeClr val="tx1"/>
                </a:solidFill>
                <a:effectLst>
                  <a:outerShdw blurRad="38100" dist="19050" dir="2700000" algn="tl" rotWithShape="0">
                    <a:schemeClr val="dk1">
                      <a:alpha val="40000"/>
                    </a:schemeClr>
                  </a:outerShdw>
                </a:effectLst>
              </a:rPr>
              <a:t>Convolutional Encoder</a:t>
            </a:r>
            <a:endParaRPr lang="en-IN" dirty="0">
              <a:ln w="0"/>
              <a:solidFill>
                <a:schemeClr val="tx1"/>
              </a:solidFill>
              <a:effectLst>
                <a:outerShdw blurRad="38100" dist="19050" dir="2700000" algn="tl" rotWithShape="0">
                  <a:schemeClr val="dk1">
                    <a:alpha val="40000"/>
                  </a:schemeClr>
                </a:outerShdw>
              </a:effectLst>
            </a:endParaRPr>
          </a:p>
        </p:txBody>
      </p:sp>
      <p:sp>
        <p:nvSpPr>
          <p:cNvPr id="7" name="TextBox 6"/>
          <p:cNvSpPr txBox="1"/>
          <p:nvPr/>
        </p:nvSpPr>
        <p:spPr>
          <a:xfrm>
            <a:off x="4747491" y="6012873"/>
            <a:ext cx="45719" cy="369332"/>
          </a:xfrm>
          <a:prstGeom prst="rect">
            <a:avLst/>
          </a:prstGeom>
          <a:noFill/>
        </p:spPr>
        <p:txBody>
          <a:bodyPr wrap="square" rtlCol="0">
            <a:spAutoFit/>
          </a:bodyPr>
          <a:lstStyle/>
          <a:p>
            <a:endParaRPr lang="en-IN" dirty="0"/>
          </a:p>
        </p:txBody>
      </p:sp>
      <p:sp>
        <p:nvSpPr>
          <p:cNvPr id="8" name="Rectangle 7"/>
          <p:cNvSpPr/>
          <p:nvPr/>
        </p:nvSpPr>
        <p:spPr>
          <a:xfrm>
            <a:off x="4177903" y="83066"/>
            <a:ext cx="2854036" cy="701964"/>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GB" dirty="0" smtClean="0">
                <a:ln w="0"/>
                <a:solidFill>
                  <a:schemeClr val="tx1"/>
                </a:solidFill>
                <a:effectLst>
                  <a:outerShdw blurRad="38100" dist="19050" dir="2700000" algn="tl" rotWithShape="0">
                    <a:schemeClr val="dk1">
                      <a:alpha val="40000"/>
                    </a:schemeClr>
                  </a:outerShdw>
                </a:effectLst>
              </a:rPr>
              <a:t>Convolutional Encoder</a:t>
            </a:r>
            <a:endParaRPr lang="en-IN" dirty="0">
              <a:ln w="0"/>
              <a:solidFill>
                <a:schemeClr val="tx1"/>
              </a:solidFill>
              <a:effectLst>
                <a:outerShdw blurRad="38100" dist="19050" dir="2700000" algn="tl" rotWithShape="0">
                  <a:schemeClr val="dk1">
                    <a:alpha val="40000"/>
                  </a:schemeClr>
                </a:outerShdw>
              </a:effectLst>
            </a:endParaRPr>
          </a:p>
        </p:txBody>
      </p:sp>
      <p:cxnSp>
        <p:nvCxnSpPr>
          <p:cNvPr id="10" name="Straight Arrow Connector 9"/>
          <p:cNvCxnSpPr/>
          <p:nvPr/>
        </p:nvCxnSpPr>
        <p:spPr>
          <a:xfrm>
            <a:off x="4177903" y="434048"/>
            <a:ext cx="0" cy="83905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Straight Connector 11"/>
          <p:cNvCxnSpPr>
            <a:stCxn id="8" idx="1"/>
          </p:cNvCxnSpPr>
          <p:nvPr/>
        </p:nvCxnSpPr>
        <p:spPr>
          <a:xfrm>
            <a:off x="4177903" y="434048"/>
            <a:ext cx="301733" cy="0"/>
          </a:xfrm>
          <a:prstGeom prst="line">
            <a:avLst/>
          </a:prstGeom>
        </p:spPr>
        <p:style>
          <a:lnRef idx="3">
            <a:schemeClr val="dk1"/>
          </a:lnRef>
          <a:fillRef idx="0">
            <a:schemeClr val="dk1"/>
          </a:fillRef>
          <a:effectRef idx="2">
            <a:schemeClr val="dk1"/>
          </a:effectRef>
          <a:fontRef idx="minor">
            <a:schemeClr val="tx1"/>
          </a:fontRef>
        </p:style>
      </p:cxnSp>
      <p:sp>
        <p:nvSpPr>
          <p:cNvPr id="14" name="TextBox 13"/>
          <p:cNvSpPr txBox="1"/>
          <p:nvPr/>
        </p:nvSpPr>
        <p:spPr>
          <a:xfrm>
            <a:off x="4793210" y="3654501"/>
            <a:ext cx="3354765" cy="323165"/>
          </a:xfrm>
          <a:prstGeom prst="rect">
            <a:avLst/>
          </a:prstGeom>
          <a:noFill/>
        </p:spPr>
        <p:txBody>
          <a:bodyPr wrap="square" rtlCol="0">
            <a:spAutoFit/>
          </a:bodyPr>
          <a:lstStyle/>
          <a:p>
            <a:r>
              <a:rPr lang="en-GB" sz="1500" b="1" dirty="0" smtClean="0">
                <a:solidFill>
                  <a:schemeClr val="bg2">
                    <a:lumMod val="25000"/>
                  </a:schemeClr>
                </a:solidFill>
              </a:rPr>
              <a:t>16 Bits</a:t>
            </a:r>
            <a:endParaRPr lang="en-IN" sz="1500" b="1" dirty="0">
              <a:solidFill>
                <a:schemeClr val="bg2">
                  <a:lumMod val="25000"/>
                </a:schemeClr>
              </a:solidFill>
            </a:endParaRPr>
          </a:p>
        </p:txBody>
      </p:sp>
      <p:sp>
        <p:nvSpPr>
          <p:cNvPr id="15" name="TextBox 14"/>
          <p:cNvSpPr txBox="1"/>
          <p:nvPr/>
        </p:nvSpPr>
        <p:spPr>
          <a:xfrm>
            <a:off x="8248072" y="1339273"/>
            <a:ext cx="2890982" cy="369332"/>
          </a:xfrm>
          <a:prstGeom prst="rect">
            <a:avLst/>
          </a:prstGeom>
          <a:noFill/>
        </p:spPr>
        <p:txBody>
          <a:bodyPr wrap="square" rtlCol="0">
            <a:spAutoFit/>
          </a:bodyPr>
          <a:lstStyle/>
          <a:p>
            <a:r>
              <a:rPr lang="en-GB" dirty="0" smtClean="0"/>
              <a:t>BLOCK DIAGRAM</a:t>
            </a:r>
            <a:endParaRPr lang="en-IN" dirty="0"/>
          </a:p>
        </p:txBody>
      </p:sp>
      <p:sp>
        <p:nvSpPr>
          <p:cNvPr id="2" name="Rectangle 1"/>
          <p:cNvSpPr/>
          <p:nvPr/>
        </p:nvSpPr>
        <p:spPr>
          <a:xfrm>
            <a:off x="504932" y="2772076"/>
            <a:ext cx="611599" cy="15400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993782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9426" y="1450240"/>
            <a:ext cx="9435452" cy="4351338"/>
          </a:xfrm>
        </p:spPr>
      </p:pic>
      <p:sp>
        <p:nvSpPr>
          <p:cNvPr id="5" name="Rectangle 4"/>
          <p:cNvSpPr/>
          <p:nvPr/>
        </p:nvSpPr>
        <p:spPr>
          <a:xfrm>
            <a:off x="1548831" y="450600"/>
            <a:ext cx="5562420" cy="646331"/>
          </a:xfrm>
          <a:prstGeom prst="rect">
            <a:avLst/>
          </a:prstGeom>
        </p:spPr>
        <p:txBody>
          <a:bodyPr wrap="none">
            <a:spAutoFit/>
          </a:bodyPr>
          <a:lstStyle/>
          <a:p>
            <a:pPr algn="r"/>
            <a:r>
              <a:rPr lang="en-US" sz="3600" b="1" dirty="0">
                <a:latin typeface="Times New Roman" panose="02020603050405020304" pitchFamily="18" charset="0"/>
                <a:cs typeface="Times New Roman" panose="02020603050405020304" pitchFamily="18" charset="0"/>
              </a:rPr>
              <a:t>GITHUB </a:t>
            </a:r>
            <a:r>
              <a:rPr lang="en-US" sz="3600" b="1" dirty="0" smtClean="0">
                <a:latin typeface="Times New Roman" panose="02020603050405020304" pitchFamily="18" charset="0"/>
                <a:cs typeface="Times New Roman" panose="02020603050405020304" pitchFamily="18" charset="0"/>
              </a:rPr>
              <a:t>repository details</a:t>
            </a:r>
            <a:endParaRPr lang="en-US" sz="36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459832" y="6070416"/>
            <a:ext cx="9820976" cy="369332"/>
          </a:xfrm>
          <a:prstGeom prst="rect">
            <a:avLst/>
          </a:prstGeom>
        </p:spPr>
        <p:txBody>
          <a:bodyPr wrap="square">
            <a:spAutoFit/>
          </a:bodyPr>
          <a:lstStyle/>
          <a:p>
            <a:r>
              <a:rPr lang="en-IN" b="1" dirty="0"/>
              <a:t>https://github.com/JasmineJevita/FPGA-based-convolutional-encoder-for-reliable-communication.git</a:t>
            </a:r>
          </a:p>
        </p:txBody>
      </p:sp>
    </p:spTree>
    <p:extLst>
      <p:ext uri="{BB962C8B-B14F-4D97-AF65-F5344CB8AC3E}">
        <p14:creationId xmlns:p14="http://schemas.microsoft.com/office/powerpoint/2010/main" val="4088293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344</TotalTime>
  <Words>452</Words>
  <Application>Microsoft Office PowerPoint</Application>
  <PresentationFormat>Widescreen</PresentationFormat>
  <Paragraphs>41</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Arial Black</vt:lpstr>
      <vt:lpstr>Calibri</vt:lpstr>
      <vt:lpstr>Calibri Light</vt:lpstr>
      <vt:lpstr>Times New Roman</vt:lpstr>
      <vt:lpstr>Office Theme</vt:lpstr>
      <vt:lpstr>FPGA Based Convolutional Encoder for Reliable Communication</vt:lpstr>
      <vt:lpstr>PowerPoint Presentation</vt:lpstr>
      <vt:lpstr>PowerPoint Presentation</vt:lpstr>
      <vt:lpstr>Objectives</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FPGA Based Convolutional Encoder for Reliable Communication</dc:title>
  <dc:creator>Lenovo</dc:creator>
  <cp:lastModifiedBy>Lenovo</cp:lastModifiedBy>
  <cp:revision>14</cp:revision>
  <dcterms:created xsi:type="dcterms:W3CDTF">2026-05-11T18:02:20Z</dcterms:created>
  <dcterms:modified xsi:type="dcterms:W3CDTF">2026-05-12T09:09:42Z</dcterms:modified>
</cp:coreProperties>
</file>